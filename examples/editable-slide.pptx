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a289c87f04f5e" /><Relationship Type="http://schemas.openxmlformats.org/officeDocument/2006/relationships/extended-properties" Target="/docProps/app.xml" Id="R6b25ca799a044699" /><Relationship Type="http://schemas.openxmlformats.org/officeDocument/2006/relationships/officeDocument" Target="/ppt/presentation.xml" Id="Re3feb210481c40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ec08b8d1845e1"/>
  </p:sldMasterIdLst>
  <p:notesMasterIdLst>
    <p:notesMasterId xmlns:r="http://schemas.openxmlformats.org/officeDocument/2006/relationships" r:id="Re8be46eca2d2448f"/>
  </p:notesMasterIdLst>
  <p:sldIdLst>
    <p:sldId xmlns:r="http://schemas.openxmlformats.org/officeDocument/2006/relationships" id="256" r:id="R6f5880e9cfbe4a2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dc1df7c554414a" /><Relationship Type="http://schemas.openxmlformats.org/officeDocument/2006/relationships/slideMaster" Target="/ppt/slideMasters/slideMaster1.xml" Id="R210ec08b8d1845e1" /><Relationship Type="http://schemas.openxmlformats.org/officeDocument/2006/relationships/notesMaster" Target="/ppt/notesMasters/notesMaster1.xml" Id="Re8be46eca2d2448f" /><Relationship Type="http://schemas.openxmlformats.org/officeDocument/2006/relationships/presProps" Target="/ppt/presProps.xml" Id="Rf5516f0ff3344285" /><Relationship Type="http://schemas.openxmlformats.org/officeDocument/2006/relationships/tableStyles" Target="/ppt/tableStyles.xml" Id="Rfcc7a2de8b8846d3" /><Relationship Type="http://schemas.openxmlformats.org/officeDocument/2006/relationships/slide" Target="/ppt/slides/slide1.xml" Id="R6f5880e9cfbe4a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577e30295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932cdf46a047bb" /><Relationship Type="http://schemas.openxmlformats.org/officeDocument/2006/relationships/notesMaster" Target="/ppt/notesMasters/notesMaster1.xml" Id="Rcb8147b52533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2a19abe6741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179979b9174ab1" /><Relationship Type="http://schemas.openxmlformats.org/officeDocument/2006/relationships/slideLayout" Target="/ppt/slideLayouts/slideLayout1.xml" Id="Ra11490c3c289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1490c3c289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4014d4ae241a6" /><Relationship Type="http://schemas.openxmlformats.org/officeDocument/2006/relationships/chart" Target="/ppt/slides/charts/chart1.xml" Id="R11a5ca625b374d31" /><Relationship Type="http://schemas.openxmlformats.org/officeDocument/2006/relationships/chart" Target="/ppt/slides/charts/chart2.xml" Id="R3c273f2b9edb4174" /><Relationship Type="http://schemas.openxmlformats.org/officeDocument/2006/relationships/notesSlide" Target="/ppt/notesSlides/notesSlide1.xml" Id="R82dd684120ba4f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Activation funnel</c:v>
          </c:tx>
          <c:spPr>
            <a:solidFill xmlns:a="http://schemas.openxmlformats.org/drawingml/2006/main">
              <a:srgbClr val="B9BDC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946C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9BD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9BDC5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6946CE"/>
                        </a:solidFill>
                        <a:latin typeface="Inter"/>
                        <a:ea typeface="Inter"/>
                        <a:cs typeface="Inter"/>
                      </a:rPr>
                      <a:t>1 600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6946CE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202128"/>
                        </a:solidFill>
                        <a:latin typeface="Inter"/>
                        <a:ea typeface="Inter"/>
                        <a:cs typeface="Inter"/>
                      </a:rPr>
                      <a:t>3 200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02128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202128"/>
                        </a:solidFill>
                        <a:latin typeface="Inter"/>
                        <a:ea typeface="Inter"/>
                        <a:cs typeface="Inter"/>
                      </a:rPr>
                      <a:t>10 000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02128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Подписались</c:v>
                </c:pt>
                <c:pt idx="1">
                  <c:v>Кликнули</c:v>
                </c:pt>
                <c:pt idx="2">
                  <c:v>Увидели предложение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1600</c:v>
                </c:pt>
                <c:pt idx="1">
                  <c:v>3200</c:v>
                </c:pt>
                <c:pt idx="2">
                  <c:v>10000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02128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02128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15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4E8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872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AFA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Day one usage</c:v>
          </c:tx>
          <c:spPr>
            <a:solidFill xmlns:a="http://schemas.openxmlformats.org/drawingml/2006/main">
              <a:srgbClr val="B9BDC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9BDC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9BD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946CE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202128"/>
                        </a:solidFill>
                        <a:latin typeface="Inter"/>
                        <a:ea typeface="Inter"/>
                        <a:cs typeface="Inter"/>
                      </a:rPr>
                      <a:t>72%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02128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202128"/>
                        </a:solidFill>
                        <a:latin typeface="Inter"/>
                        <a:ea typeface="Inter"/>
                        <a:cs typeface="Inter"/>
                      </a:rPr>
                      <a:t>61%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02128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6946CE"/>
                        </a:solidFill>
                        <a:latin typeface="Inter"/>
                        <a:ea typeface="Inter"/>
                        <a:cs typeface="Inter"/>
                      </a:rPr>
                      <a:t>35%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6946CE"/>
                      </a:solidFill>
                      <a:latin typeface="Inter"/>
                      <a:ea typeface="Inter"/>
                      <a:cs typeface="Inter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Сравнение B</c:v>
                </c:pt>
                <c:pt idx="1">
                  <c:v>Сравнение A</c:v>
                </c:pt>
                <c:pt idx="2">
                  <c:v>Продукт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0.72</c:v>
                </c:pt>
                <c:pt idx="1">
                  <c:v>0.61</c:v>
                </c:pt>
                <c:pt idx="2">
                  <c:v>0.35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02128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02128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4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872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A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A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C4681522-ABA1-454B-8822-2D94A96C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402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8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202128"/>
                </a:solidFill>
                <a:latin typeface="Inter"/>
                <a:ea typeface="Inter"/>
                <a:cs typeface="Inter"/>
              </a:rPr>
              <a:t>Подписались 16% увидевших предложение</a:t>
            </a:r>
          </a:p>
        </p:txBody>
      </p:sp>
      <p:sp>
        <p:nvSpPr>
          <p:cNvPr id="2" name="Period">
            <a:extLst xmlns:a="http://schemas.openxmlformats.org/drawingml/2006/main">
              <a:ext uri="{FF2B5EF4-FFF2-40B4-BE49-F238E27FC236}">
                <a16:creationId xmlns:a16="http://schemas.microsoft.com/office/drawing/2014/main" id="{AC9E573D-0A1B-416B-BDA4-70E0661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687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56872"/>
                </a:solidFill>
                <a:latin typeface="Inter"/>
                <a:ea typeface="Inter"/>
                <a:cs typeface="Inter"/>
              </a:rPr>
              <a:t>1–14 сентября</a:t>
            </a:r>
          </a:p>
        </p:txBody>
      </p:sp>
      <p:sp>
        <p:nvSpPr>
          <p:cNvPr id="3" name="Activation funnel heading">
            <a:extLst xmlns:a="http://schemas.openxmlformats.org/drawingml/2006/main">
              <a:ext uri="{FF2B5EF4-FFF2-40B4-BE49-F238E27FC236}">
                <a16:creationId xmlns:a16="http://schemas.microsoft.com/office/drawing/2014/main" id="{1E6FE686-EAE1-4C94-BB7A-5001B40C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670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8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02128"/>
                </a:solidFill>
                <a:latin typeface="Inter"/>
                <a:ea typeface="Inter"/>
                <a:cs typeface="Inter"/>
              </a:rPr>
              <a:t>Каждый второй кликнувший подписался</a:t>
            </a:r>
          </a:p>
        </p:txBody>
      </p:sp>
      <p:sp>
        <p:nvSpPr>
          <p:cNvPr id="4" name="Activation funnel base">
            <a:extLst xmlns:a="http://schemas.openxmlformats.org/drawingml/2006/main">
              <a:ext uri="{FF2B5EF4-FFF2-40B4-BE49-F238E27FC236}">
                <a16:creationId xmlns:a16="http://schemas.microsoft.com/office/drawing/2014/main" id="{88D62EC2-AA72-4788-9C0B-B9758257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87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872"/>
                </a:solidFill>
                <a:latin typeface="Inter"/>
                <a:ea typeface="Inter"/>
                <a:cs typeface="Inter"/>
              </a:rPr>
              <a:t>Новые пользователи одной когорты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3333750"/>
          <a:ext xmlns:a="http://schemas.openxmlformats.org/drawingml/2006/main" cx="67056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a5ca625b374d31"/>
          </a:graphicData>
        </a:graphic>
      </p:graphicFrame>
      <p:sp>
        <p:nvSpPr>
          <p:cNvPr id="6" name="Day one usage heading">
            <a:extLst xmlns:a="http://schemas.openxmlformats.org/drawingml/2006/main">
              <a:ext uri="{FF2B5EF4-FFF2-40B4-BE49-F238E27FC236}">
                <a16:creationId xmlns:a16="http://schemas.microsoft.com/office/drawing/2014/main" id="{28945230-8676-49ED-B48C-6E403CB9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19325"/>
            <a:ext cx="670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8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02128"/>
                </a:solidFill>
                <a:latin typeface="Inter"/>
                <a:ea typeface="Inter"/>
                <a:cs typeface="Inter"/>
              </a:rPr>
              <a:t>35% пользуются в первый день</a:t>
            </a:r>
          </a:p>
        </p:txBody>
      </p:sp>
      <p:sp>
        <p:nvSpPr>
          <p:cNvPr id="7" name="Day one usage base">
            <a:extLst xmlns:a="http://schemas.openxmlformats.org/drawingml/2006/main">
              <a:ext uri="{FF2B5EF4-FFF2-40B4-BE49-F238E27FC236}">
                <a16:creationId xmlns:a16="http://schemas.microsoft.com/office/drawing/2014/main" id="{DF8C7819-7A01-48D1-8955-F34114B7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95575"/>
            <a:ext cx="670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87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56872"/>
                </a:solidFill>
                <a:latin typeface="Inter"/>
                <a:ea typeface="Inter"/>
                <a:cs typeface="Inter"/>
              </a:rPr>
              <a:t>Среди подписавшихся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924800" y="3333750"/>
          <a:ext xmlns:a="http://schemas.openxmlformats.org/drawingml/2006/main" cx="67056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273f2b9edb417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9E7BD-86F5-4BDA-8819-87CD115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402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</a:ln>
        </p:spPr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80D27F82-4DD2-4D68-8787-65EF3DF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34325"/>
            <a:ext cx="1402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6872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56872"/>
                </a:solidFill>
                <a:latin typeface="Inter"/>
                <a:ea typeface="Inter"/>
                <a:cs typeface="Inter"/>
              </a:rPr>
              <a:t>Учебные данные · все значения вымышлены</a:t>
            </a:r>
          </a:p>
        </p:txBody>
      </p:sp>
    </p:spTree>
    <p:extLst>
      <p:ext uri="{BB962C8B-B14F-4D97-AF65-F5344CB8AC3E}">
        <p14:creationId xmlns:p14="http://schemas.microsoft.com/office/powerpoint/2010/main" val="2090613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2026-09-23T07:24:08.1440000Z</dcterms:created>
  <dcterms:modified xsi:type="dcterms:W3CDTF">2026-09-23T07:24:08.1440000Z</dcterms:modified>
</coreProperties>
</file>